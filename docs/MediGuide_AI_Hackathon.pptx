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Bold" charset="1" panose="00000800000000000000"/>
      <p:regular r:id="rId17"/>
    </p:embeddedFont>
    <p:embeddedFont>
      <p:font typeface="Montserrat" charset="1" panose="00000500000000000000"/>
      <p:regular r:id="rId18"/>
    </p:embeddedFont>
    <p:embeddedFont>
      <p:font typeface="Open Sans" charset="1" panose="020B06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4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5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/Relationships>
</file>

<file path=ppt/slides/_rels/slide6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7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9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0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11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54810" y="4444948"/>
            <a:ext cx="7133123" cy="5019125"/>
          </a:xfrm>
          <a:custGeom>
            <a:avLst/>
            <a:gdLst/>
            <a:ahLst/>
            <a:cxnLst/>
            <a:rect r="r" b="b" t="t" l="l"/>
            <a:pathLst>
              <a:path h="5019125" w="7133123">
                <a:moveTo>
                  <a:pt x="0" y="0"/>
                </a:moveTo>
                <a:lnTo>
                  <a:pt x="7133123" y="0"/>
                </a:lnTo>
                <a:lnTo>
                  <a:pt x="7133123" y="5019125"/>
                </a:lnTo>
                <a:lnTo>
                  <a:pt x="0" y="5019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34313" y="2909609"/>
            <a:ext cx="12608062" cy="394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61"/>
              </a:lnSpc>
            </a:pPr>
            <a:r>
              <a:rPr lang="en-US" sz="10364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 xml:space="preserve">AI </a:t>
            </a:r>
            <a:r>
              <a:rPr lang="en-US" sz="10364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</a:t>
            </a:r>
            <a:r>
              <a:rPr lang="en-US" sz="10364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althcare Triage Assistant</a:t>
            </a:r>
          </a:p>
          <a:p>
            <a:pPr algn="l">
              <a:lnSpc>
                <a:spcPts val="10261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4880335" y="1870939"/>
            <a:ext cx="4263665" cy="624318"/>
            <a:chOff x="0" y="0"/>
            <a:chExt cx="12954000" cy="18968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54000" cy="1896823"/>
            </a:xfrm>
            <a:custGeom>
              <a:avLst/>
              <a:gdLst/>
              <a:ahLst/>
              <a:cxnLst/>
              <a:rect r="r" b="b" t="t" l="l"/>
              <a:pathLst>
                <a:path h="1896823" w="12954000">
                  <a:moveTo>
                    <a:pt x="1790097" y="929932"/>
                  </a:moveTo>
                  <a:cubicBezTo>
                    <a:pt x="1219186" y="1074677"/>
                    <a:pt x="1074677" y="1219186"/>
                    <a:pt x="929932" y="1790099"/>
                  </a:cubicBezTo>
                  <a:cubicBezTo>
                    <a:pt x="923322" y="1816166"/>
                    <a:pt x="886325" y="1816166"/>
                    <a:pt x="879718" y="1790099"/>
                  </a:cubicBezTo>
                  <a:cubicBezTo>
                    <a:pt x="734974" y="1219186"/>
                    <a:pt x="590462" y="1074677"/>
                    <a:pt x="19552" y="929932"/>
                  </a:cubicBezTo>
                  <a:cubicBezTo>
                    <a:pt x="-6518" y="923322"/>
                    <a:pt x="-6518" y="886325"/>
                    <a:pt x="19552" y="879718"/>
                  </a:cubicBezTo>
                  <a:cubicBezTo>
                    <a:pt x="590462" y="734973"/>
                    <a:pt x="734974" y="590461"/>
                    <a:pt x="879719" y="19550"/>
                  </a:cubicBezTo>
                  <a:cubicBezTo>
                    <a:pt x="886327" y="-6516"/>
                    <a:pt x="923322" y="-6516"/>
                    <a:pt x="929933" y="19550"/>
                  </a:cubicBezTo>
                  <a:cubicBezTo>
                    <a:pt x="1074678" y="590461"/>
                    <a:pt x="1219187" y="734973"/>
                    <a:pt x="1790098" y="879718"/>
                  </a:cubicBezTo>
                  <a:cubicBezTo>
                    <a:pt x="1816167" y="886325"/>
                    <a:pt x="1816167" y="923320"/>
                    <a:pt x="1790098" y="929932"/>
                  </a:cubicBezTo>
                  <a:close/>
                  <a:moveTo>
                    <a:pt x="2230867" y="917275"/>
                  </a:moveTo>
                  <a:lnTo>
                    <a:pt x="2576728" y="1263137"/>
                  </a:lnTo>
                  <a:lnTo>
                    <a:pt x="2922586" y="917275"/>
                  </a:lnTo>
                  <a:lnTo>
                    <a:pt x="2576728" y="571417"/>
                  </a:lnTo>
                  <a:lnTo>
                    <a:pt x="2230867" y="917275"/>
                  </a:lnTo>
                  <a:close/>
                  <a:moveTo>
                    <a:pt x="5133903" y="954439"/>
                  </a:moveTo>
                  <a:cubicBezTo>
                    <a:pt x="4562992" y="809691"/>
                    <a:pt x="4418482" y="665183"/>
                    <a:pt x="4273735" y="94272"/>
                  </a:cubicBezTo>
                  <a:cubicBezTo>
                    <a:pt x="4267128" y="68205"/>
                    <a:pt x="4230132" y="68205"/>
                    <a:pt x="4223525" y="94272"/>
                  </a:cubicBezTo>
                  <a:cubicBezTo>
                    <a:pt x="4078776" y="665183"/>
                    <a:pt x="3934268" y="809692"/>
                    <a:pt x="3363357" y="954439"/>
                  </a:cubicBezTo>
                  <a:cubicBezTo>
                    <a:pt x="3337291" y="961050"/>
                    <a:pt x="3337291" y="998042"/>
                    <a:pt x="3363357" y="1004650"/>
                  </a:cubicBezTo>
                  <a:cubicBezTo>
                    <a:pt x="3934268" y="1149398"/>
                    <a:pt x="4078778" y="1293910"/>
                    <a:pt x="4223525" y="1864821"/>
                  </a:cubicBezTo>
                  <a:cubicBezTo>
                    <a:pt x="4230132" y="1890888"/>
                    <a:pt x="4267128" y="1890888"/>
                    <a:pt x="4273735" y="1864821"/>
                  </a:cubicBezTo>
                  <a:cubicBezTo>
                    <a:pt x="4418484" y="1293910"/>
                    <a:pt x="4562992" y="1149398"/>
                    <a:pt x="5133903" y="1004650"/>
                  </a:cubicBezTo>
                  <a:cubicBezTo>
                    <a:pt x="5159972" y="998042"/>
                    <a:pt x="5159972" y="961050"/>
                    <a:pt x="5133903" y="954439"/>
                  </a:cubicBezTo>
                  <a:close/>
                  <a:moveTo>
                    <a:pt x="5574673" y="942186"/>
                  </a:moveTo>
                  <a:lnTo>
                    <a:pt x="5920530" y="1288044"/>
                  </a:lnTo>
                  <a:lnTo>
                    <a:pt x="6266392" y="942186"/>
                  </a:lnTo>
                  <a:lnTo>
                    <a:pt x="5920530" y="596325"/>
                  </a:lnTo>
                  <a:lnTo>
                    <a:pt x="5574673" y="942186"/>
                  </a:lnTo>
                  <a:close/>
                  <a:moveTo>
                    <a:pt x="8477707" y="941984"/>
                  </a:moveTo>
                  <a:cubicBezTo>
                    <a:pt x="7906796" y="797240"/>
                    <a:pt x="7762284" y="652728"/>
                    <a:pt x="7617540" y="81817"/>
                  </a:cubicBezTo>
                  <a:cubicBezTo>
                    <a:pt x="7610932" y="55750"/>
                    <a:pt x="7573937" y="55750"/>
                    <a:pt x="7567326" y="81817"/>
                  </a:cubicBezTo>
                  <a:cubicBezTo>
                    <a:pt x="7422581" y="652728"/>
                    <a:pt x="7278072" y="797240"/>
                    <a:pt x="6707161" y="941984"/>
                  </a:cubicBezTo>
                  <a:cubicBezTo>
                    <a:pt x="6681091" y="948595"/>
                    <a:pt x="6681091" y="985587"/>
                    <a:pt x="6707161" y="992199"/>
                  </a:cubicBezTo>
                  <a:cubicBezTo>
                    <a:pt x="7278072" y="1136943"/>
                    <a:pt x="7422581" y="1281455"/>
                    <a:pt x="7567326" y="1852366"/>
                  </a:cubicBezTo>
                  <a:cubicBezTo>
                    <a:pt x="7573936" y="1878433"/>
                    <a:pt x="7610932" y="1878433"/>
                    <a:pt x="7617540" y="1852366"/>
                  </a:cubicBezTo>
                  <a:cubicBezTo>
                    <a:pt x="7762284" y="1281455"/>
                    <a:pt x="7906796" y="1136943"/>
                    <a:pt x="8477707" y="992199"/>
                  </a:cubicBezTo>
                  <a:cubicBezTo>
                    <a:pt x="8503776" y="985589"/>
                    <a:pt x="8503776" y="948596"/>
                    <a:pt x="8477707" y="941984"/>
                  </a:cubicBezTo>
                  <a:close/>
                  <a:moveTo>
                    <a:pt x="8918477" y="929730"/>
                  </a:moveTo>
                  <a:lnTo>
                    <a:pt x="9264339" y="1275592"/>
                  </a:lnTo>
                  <a:lnTo>
                    <a:pt x="9610197" y="929730"/>
                  </a:lnTo>
                  <a:lnTo>
                    <a:pt x="9264339" y="583872"/>
                  </a:lnTo>
                  <a:lnTo>
                    <a:pt x="8918477" y="929730"/>
                  </a:lnTo>
                  <a:close/>
                  <a:moveTo>
                    <a:pt x="11821509" y="966892"/>
                  </a:moveTo>
                  <a:cubicBezTo>
                    <a:pt x="11250605" y="822147"/>
                    <a:pt x="11106093" y="677635"/>
                    <a:pt x="10961345" y="106724"/>
                  </a:cubicBezTo>
                  <a:cubicBezTo>
                    <a:pt x="10954734" y="80658"/>
                    <a:pt x="10917738" y="80658"/>
                    <a:pt x="10911134" y="106724"/>
                  </a:cubicBezTo>
                  <a:cubicBezTo>
                    <a:pt x="10766385" y="677635"/>
                    <a:pt x="10621874" y="822147"/>
                    <a:pt x="10050963" y="966892"/>
                  </a:cubicBezTo>
                  <a:cubicBezTo>
                    <a:pt x="10024894" y="973502"/>
                    <a:pt x="10024894" y="1010495"/>
                    <a:pt x="10050963" y="1017106"/>
                  </a:cubicBezTo>
                  <a:cubicBezTo>
                    <a:pt x="10621874" y="1161851"/>
                    <a:pt x="10766385" y="1306363"/>
                    <a:pt x="10911134" y="1877273"/>
                  </a:cubicBezTo>
                  <a:cubicBezTo>
                    <a:pt x="10917738" y="1903340"/>
                    <a:pt x="10954734" y="1903340"/>
                    <a:pt x="10961345" y="1877273"/>
                  </a:cubicBezTo>
                  <a:cubicBezTo>
                    <a:pt x="11106093" y="1306363"/>
                    <a:pt x="11250605" y="1161851"/>
                    <a:pt x="11821509" y="1017106"/>
                  </a:cubicBezTo>
                  <a:cubicBezTo>
                    <a:pt x="11847578" y="1010496"/>
                    <a:pt x="11847578" y="973503"/>
                    <a:pt x="11821509" y="966892"/>
                  </a:cubicBezTo>
                  <a:close/>
                  <a:moveTo>
                    <a:pt x="12608141" y="608780"/>
                  </a:moveTo>
                  <a:lnTo>
                    <a:pt x="12262283" y="954637"/>
                  </a:lnTo>
                  <a:lnTo>
                    <a:pt x="12608141" y="1300495"/>
                  </a:lnTo>
                  <a:lnTo>
                    <a:pt x="12953999" y="954637"/>
                  </a:lnTo>
                  <a:lnTo>
                    <a:pt x="12608141" y="608780"/>
                  </a:lnTo>
                  <a:close/>
                </a:path>
              </a:pathLst>
            </a:custGeom>
            <a:solidFill>
              <a:srgbClr val="467D6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05310" y="7131778"/>
            <a:ext cx="9948441" cy="56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4319">
                <a:solidFill>
                  <a:srgbClr val="467D63"/>
                </a:solidFill>
                <a:latin typeface="Montserrat"/>
                <a:ea typeface="Montserrat"/>
                <a:cs typeface="Montserrat"/>
                <a:sym typeface="Montserrat"/>
              </a:rPr>
              <a:t>Presented by NOSTALGIA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67D63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08719" y="-359744"/>
            <a:ext cx="5623209" cy="5623209"/>
          </a:xfrm>
          <a:custGeom>
            <a:avLst/>
            <a:gdLst/>
            <a:ahLst/>
            <a:cxnLst/>
            <a:rect r="r" b="b" t="t" l="l"/>
            <a:pathLst>
              <a:path h="5623209" w="5623209">
                <a:moveTo>
                  <a:pt x="0" y="0"/>
                </a:moveTo>
                <a:lnTo>
                  <a:pt x="5623209" y="0"/>
                </a:lnTo>
                <a:lnTo>
                  <a:pt x="5623209" y="5623209"/>
                </a:lnTo>
                <a:lnTo>
                  <a:pt x="0" y="5623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1331" y="3994607"/>
            <a:ext cx="15923225" cy="4910678"/>
            <a:chOff x="0" y="0"/>
            <a:chExt cx="1169784" cy="3607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9784" cy="360758"/>
            </a:xfrm>
            <a:custGeom>
              <a:avLst/>
              <a:gdLst/>
              <a:ahLst/>
              <a:cxnLst/>
              <a:rect r="r" b="b" t="t" l="l"/>
              <a:pathLst>
                <a:path h="360758" w="1169784">
                  <a:moveTo>
                    <a:pt x="0" y="0"/>
                  </a:moveTo>
                  <a:lnTo>
                    <a:pt x="1169784" y="0"/>
                  </a:lnTo>
                  <a:lnTo>
                    <a:pt x="1169784" y="360758"/>
                  </a:lnTo>
                  <a:lnTo>
                    <a:pt x="0" y="360758"/>
                  </a:lnTo>
                  <a:close/>
                </a:path>
              </a:pathLst>
            </a:custGeom>
            <a:solidFill>
              <a:srgbClr val="467D6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169784" cy="40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304338" y="4646830"/>
            <a:ext cx="4527736" cy="3185880"/>
          </a:xfrm>
          <a:custGeom>
            <a:avLst/>
            <a:gdLst/>
            <a:ahLst/>
            <a:cxnLst/>
            <a:rect r="r" b="b" t="t" l="l"/>
            <a:pathLst>
              <a:path h="3185880" w="4527736">
                <a:moveTo>
                  <a:pt x="0" y="0"/>
                </a:moveTo>
                <a:lnTo>
                  <a:pt x="4527737" y="0"/>
                </a:lnTo>
                <a:lnTo>
                  <a:pt x="4527737" y="3185880"/>
                </a:lnTo>
                <a:lnTo>
                  <a:pt x="0" y="31858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81331" y="1181100"/>
            <a:ext cx="10049765" cy="2005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7"/>
              </a:lnSpc>
            </a:pPr>
            <a:r>
              <a:rPr lang="en-US" sz="7805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</a:t>
            </a:r>
            <a:r>
              <a:rPr lang="en-US" sz="7805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16049" y="4904037"/>
            <a:ext cx="10739356" cy="306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Crisis</a:t>
            </a:r>
            <a:r>
              <a:rPr lang="en-US" sz="2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 xml:space="preserve"> We’re Solving</a:t>
            </a:r>
          </a:p>
          <a:p>
            <a:pPr algn="l">
              <a:lnSpc>
                <a:spcPts val="2600"/>
              </a:lnSpc>
            </a:pPr>
          </a:p>
          <a:p>
            <a:pPr algn="l" marL="653562" indent="-326781" lvl="1">
              <a:lnSpc>
                <a:spcPts val="260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India: 1 doctor per 1,000 people (WHO target: 1 per 445)</a:t>
            </a:r>
          </a:p>
          <a:p>
            <a:pPr algn="l" marL="653562" indent="-326781" lvl="1">
              <a:lnSpc>
                <a:spcPts val="260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Rural patients wait 4–6 hrs; miss critical treatment windows</a:t>
            </a:r>
          </a:p>
          <a:p>
            <a:pPr algn="l" marL="653562" indent="-326781" lvl="1">
              <a:lnSpc>
                <a:spcPts val="260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72% rely on unverified internet searches for health guidance</a:t>
            </a:r>
          </a:p>
          <a:p>
            <a:pPr algn="l" marL="653562" indent="-326781" lvl="1">
              <a:lnSpc>
                <a:spcPts val="260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Misclassified emergencies: preventable deaths + overwhelmed ERs</a:t>
            </a:r>
          </a:p>
          <a:p>
            <a:pPr algn="l">
              <a:lnSpc>
                <a:spcPts val="26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1331" y="8750005"/>
            <a:ext cx="6380806" cy="6380806"/>
          </a:xfrm>
          <a:custGeom>
            <a:avLst/>
            <a:gdLst/>
            <a:ahLst/>
            <a:cxnLst/>
            <a:rect r="r" b="b" t="t" l="l"/>
            <a:pathLst>
              <a:path h="6380806" w="6380806">
                <a:moveTo>
                  <a:pt x="0" y="0"/>
                </a:moveTo>
                <a:lnTo>
                  <a:pt x="6380806" y="0"/>
                </a:lnTo>
                <a:lnTo>
                  <a:pt x="6380806" y="6380806"/>
                </a:lnTo>
                <a:lnTo>
                  <a:pt x="0" y="6380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1331" y="4275795"/>
            <a:ext cx="1055836" cy="867705"/>
          </a:xfrm>
          <a:custGeom>
            <a:avLst/>
            <a:gdLst/>
            <a:ahLst/>
            <a:cxnLst/>
            <a:rect r="r" b="b" t="t" l="l"/>
            <a:pathLst>
              <a:path h="867705" w="1055836">
                <a:moveTo>
                  <a:pt x="0" y="0"/>
                </a:moveTo>
                <a:lnTo>
                  <a:pt x="1055836" y="0"/>
                </a:lnTo>
                <a:lnTo>
                  <a:pt x="1055836" y="867705"/>
                </a:lnTo>
                <a:lnTo>
                  <a:pt x="0" y="867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2246" y="2222976"/>
            <a:ext cx="10049765" cy="103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7"/>
              </a:lnSpc>
            </a:pPr>
            <a:r>
              <a:rPr lang="en-US" sz="7805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</a:t>
            </a:r>
            <a:r>
              <a:rPr lang="en-US" sz="7805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 xml:space="preserve"> Solution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73640" y="-2662112"/>
            <a:ext cx="8782039" cy="5324224"/>
            <a:chOff x="0" y="0"/>
            <a:chExt cx="763389" cy="4628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3389" cy="462814"/>
            </a:xfrm>
            <a:custGeom>
              <a:avLst/>
              <a:gdLst/>
              <a:ahLst/>
              <a:cxnLst/>
              <a:rect r="r" b="b" t="t" l="l"/>
              <a:pathLst>
                <a:path h="462814" w="763389">
                  <a:moveTo>
                    <a:pt x="0" y="0"/>
                  </a:moveTo>
                  <a:lnTo>
                    <a:pt x="763389" y="0"/>
                  </a:lnTo>
                  <a:lnTo>
                    <a:pt x="763389" y="462814"/>
                  </a:lnTo>
                  <a:lnTo>
                    <a:pt x="0" y="462814"/>
                  </a:lnTo>
                  <a:close/>
                </a:path>
              </a:pathLst>
            </a:custGeom>
            <a:solidFill>
              <a:srgbClr val="467D6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63389" cy="510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227799" y="218234"/>
            <a:ext cx="2092303" cy="2070576"/>
          </a:xfrm>
          <a:custGeom>
            <a:avLst/>
            <a:gdLst/>
            <a:ahLst/>
            <a:cxnLst/>
            <a:rect r="r" b="b" t="t" l="l"/>
            <a:pathLst>
              <a:path h="2070576" w="2092303">
                <a:moveTo>
                  <a:pt x="0" y="0"/>
                </a:moveTo>
                <a:lnTo>
                  <a:pt x="2092303" y="0"/>
                </a:lnTo>
                <a:lnTo>
                  <a:pt x="2092303" y="2070576"/>
                </a:lnTo>
                <a:lnTo>
                  <a:pt x="0" y="20705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08669" y="4294845"/>
            <a:ext cx="13667801" cy="4006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600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 xml:space="preserve">MediGuide AI </a:t>
            </a:r>
            <a:r>
              <a:rPr lang="en-US" sz="2600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— What It Does</a:t>
            </a:r>
          </a:p>
          <a:p>
            <a:pPr algn="l">
              <a:lnSpc>
                <a:spcPts val="3000"/>
              </a:lnSpc>
            </a:pPr>
          </a:p>
          <a:p>
            <a:pPr algn="l" marL="855545" indent="-427773" lvl="1">
              <a:lnSpc>
                <a:spcPts val="3000"/>
              </a:lnSpc>
              <a:buFont typeface="Arial"/>
              <a:buChar char="•"/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Conversational chatbot collects symptoms, age &amp; BMI in plain English</a:t>
            </a:r>
          </a:p>
          <a:p>
            <a:pPr algn="l" marL="855545" indent="-427773" lvl="1">
              <a:lnSpc>
                <a:spcPts val="3000"/>
              </a:lnSpc>
              <a:buFont typeface="Arial"/>
              <a:buChar char="•"/>
            </a:pPr>
            <a:r>
              <a:rPr lang="en-US" b="true" sz="32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NLP engine maps 100+ symptom terms to 80 medical feature flags</a:t>
            </a:r>
          </a:p>
          <a:p>
            <a:pPr algn="l" marL="855545" indent="-427773" lvl="1">
              <a:lnSpc>
                <a:spcPts val="3000"/>
              </a:lnSpc>
              <a:buFont typeface="Arial"/>
              <a:buChar char="•"/>
            </a:pPr>
            <a:r>
              <a:rPr lang="en-US" b="true" sz="32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XGBoost classifier predicts LOW / MEDIUM / HIGH risk in real time</a:t>
            </a:r>
          </a:p>
          <a:p>
            <a:pPr algn="l" marL="855545" indent="-427773" lvl="1">
              <a:lnSpc>
                <a:spcPts val="3000"/>
              </a:lnSpc>
              <a:buFont typeface="Arial"/>
              <a:buChar char="•"/>
            </a:pPr>
            <a:r>
              <a:rPr lang="en-US" b="true" sz="32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Outputs: triage level + care tips + warning signs + follow-up prompts</a:t>
            </a:r>
          </a:p>
          <a:p>
            <a:pPr algn="l">
              <a:lnSpc>
                <a:spcPts val="30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67D63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051" y="3937082"/>
            <a:ext cx="629298" cy="62929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67D6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42986" y="-2016032"/>
            <a:ext cx="5337678" cy="5337678"/>
          </a:xfrm>
          <a:custGeom>
            <a:avLst/>
            <a:gdLst/>
            <a:ahLst/>
            <a:cxnLst/>
            <a:rect r="r" b="b" t="t" l="l"/>
            <a:pathLst>
              <a:path h="5337678" w="5337678">
                <a:moveTo>
                  <a:pt x="0" y="0"/>
                </a:moveTo>
                <a:lnTo>
                  <a:pt x="5337678" y="0"/>
                </a:lnTo>
                <a:lnTo>
                  <a:pt x="5337678" y="5337679"/>
                </a:lnTo>
                <a:lnTo>
                  <a:pt x="0" y="53376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95737" y="2841487"/>
            <a:ext cx="5337678" cy="5337678"/>
          </a:xfrm>
          <a:custGeom>
            <a:avLst/>
            <a:gdLst/>
            <a:ahLst/>
            <a:cxnLst/>
            <a:rect r="r" b="b" t="t" l="l"/>
            <a:pathLst>
              <a:path h="5337678" w="5337678">
                <a:moveTo>
                  <a:pt x="0" y="0"/>
                </a:moveTo>
                <a:lnTo>
                  <a:pt x="5337678" y="0"/>
                </a:lnTo>
                <a:lnTo>
                  <a:pt x="5337678" y="5337678"/>
                </a:lnTo>
                <a:lnTo>
                  <a:pt x="0" y="53376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281315" y="3937082"/>
            <a:ext cx="629298" cy="62929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67D6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978483" y="7677472"/>
            <a:ext cx="2091614" cy="1882453"/>
          </a:xfrm>
          <a:custGeom>
            <a:avLst/>
            <a:gdLst/>
            <a:ahLst/>
            <a:cxnLst/>
            <a:rect r="r" b="b" t="t" l="l"/>
            <a:pathLst>
              <a:path h="1882453" w="2091614">
                <a:moveTo>
                  <a:pt x="0" y="0"/>
                </a:moveTo>
                <a:lnTo>
                  <a:pt x="2091614" y="0"/>
                </a:lnTo>
                <a:lnTo>
                  <a:pt x="2091614" y="1882453"/>
                </a:lnTo>
                <a:lnTo>
                  <a:pt x="0" y="1882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16825" y="4060190"/>
            <a:ext cx="7464490" cy="519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2600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</a:t>
            </a:r>
            <a:r>
              <a:rPr lang="en-US" sz="2600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stem Workflow:-</a:t>
            </a:r>
          </a:p>
          <a:p>
            <a:pPr algn="l">
              <a:lnSpc>
                <a:spcPts val="2990"/>
              </a:lnSpc>
            </a:pPr>
          </a:p>
          <a:p>
            <a:pPr algn="ctr">
              <a:lnSpc>
                <a:spcPts val="2990"/>
              </a:lnSpc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 xml:space="preserve"> User Types Symptoms (text)</a:t>
            </a:r>
          </a:p>
          <a:p>
            <a:pPr algn="ctr">
              <a:lnSpc>
                <a:spcPts val="2990"/>
              </a:lnSpc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↓</a:t>
            </a:r>
          </a:p>
          <a:p>
            <a:pPr algn="ctr">
              <a:lnSpc>
                <a:spcPts val="2990"/>
              </a:lnSpc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NLP Keyword Extraction (100+ terms)</a:t>
            </a:r>
          </a:p>
          <a:p>
            <a:pPr algn="ctr">
              <a:lnSpc>
                <a:spcPts val="2990"/>
              </a:lnSpc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↓</a:t>
            </a:r>
          </a:p>
          <a:p>
            <a:pPr algn="ctr">
              <a:lnSpc>
                <a:spcPts val="2990"/>
              </a:lnSpc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Vector (80 binary features)</a:t>
            </a:r>
          </a:p>
          <a:p>
            <a:pPr algn="ctr">
              <a:lnSpc>
                <a:spcPts val="2990"/>
              </a:lnSpc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↓</a:t>
            </a:r>
          </a:p>
          <a:p>
            <a:pPr algn="ctr">
              <a:lnSpc>
                <a:spcPts val="2990"/>
              </a:lnSpc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XGBoost Classifier → Risk Label</a:t>
            </a:r>
          </a:p>
          <a:p>
            <a:pPr algn="ctr">
              <a:lnSpc>
                <a:spcPts val="2990"/>
              </a:lnSpc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↓</a:t>
            </a:r>
          </a:p>
          <a:p>
            <a:pPr algn="ctr">
              <a:lnSpc>
                <a:spcPts val="2990"/>
              </a:lnSpc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Safety Override (chest pain, breathlessness)</a:t>
            </a:r>
          </a:p>
          <a:p>
            <a:pPr algn="ctr">
              <a:lnSpc>
                <a:spcPts val="2990"/>
              </a:lnSpc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↓</a:t>
            </a:r>
          </a:p>
          <a:p>
            <a:pPr algn="ctr">
              <a:lnSpc>
                <a:spcPts val="2990"/>
              </a:lnSpc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Triage: Home Care / Clinic / Emergency</a:t>
            </a:r>
          </a:p>
          <a:p>
            <a:pPr algn="l">
              <a:lnSpc>
                <a:spcPts val="299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020332" y="1181100"/>
            <a:ext cx="10049765" cy="2005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7"/>
              </a:lnSpc>
            </a:pPr>
            <a:r>
              <a:rPr lang="en-US" sz="7805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</a:t>
            </a:r>
            <a:r>
              <a:rPr lang="en-US" sz="7805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65451" y="3956132"/>
            <a:ext cx="5246149" cy="371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2600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Components:-</a:t>
            </a:r>
          </a:p>
          <a:p>
            <a:pPr algn="l">
              <a:lnSpc>
                <a:spcPts val="2990"/>
              </a:lnSpc>
            </a:pPr>
          </a:p>
          <a:p>
            <a:pPr algn="l" marL="561341" indent="-280670" lvl="1">
              <a:lnSpc>
                <a:spcPts val="2990"/>
              </a:lnSpc>
              <a:buFont typeface="Arial"/>
              <a:buChar char="•"/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NLP extracts 80+ symptom features from free text</a:t>
            </a:r>
          </a:p>
          <a:p>
            <a:pPr algn="l" marL="561341" indent="-280670" lvl="1">
              <a:lnSpc>
                <a:spcPts val="2990"/>
              </a:lnSpc>
              <a:buFont typeface="Arial"/>
              <a:buChar char="•"/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XGBoost ML model predicts LOW/MEDIUM/HIGH risk</a:t>
            </a:r>
          </a:p>
          <a:p>
            <a:pPr algn="l" marL="561341" indent="-280670" lvl="1">
              <a:lnSpc>
                <a:spcPts val="2990"/>
              </a:lnSpc>
              <a:buFont typeface="Arial"/>
              <a:buChar char="•"/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Safety override layer catches emergency symptoms</a:t>
            </a:r>
          </a:p>
          <a:p>
            <a:pPr algn="l">
              <a:lnSpc>
                <a:spcPts val="2990"/>
              </a:lnSpc>
            </a:pPr>
          </a:p>
          <a:p>
            <a:pPr algn="l">
              <a:lnSpc>
                <a:spcPts val="299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70029" y="-784105"/>
            <a:ext cx="7305053" cy="12392460"/>
            <a:chOff x="0" y="0"/>
            <a:chExt cx="635000" cy="10772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" cy="1077229"/>
            </a:xfrm>
            <a:custGeom>
              <a:avLst/>
              <a:gdLst/>
              <a:ahLst/>
              <a:cxnLst/>
              <a:rect r="r" b="b" t="t" l="l"/>
              <a:pathLst>
                <a:path h="1077229" w="635000">
                  <a:moveTo>
                    <a:pt x="20699" y="0"/>
                  </a:moveTo>
                  <a:lnTo>
                    <a:pt x="614301" y="0"/>
                  </a:lnTo>
                  <a:cubicBezTo>
                    <a:pt x="619791" y="0"/>
                    <a:pt x="625055" y="2181"/>
                    <a:pt x="628937" y="6063"/>
                  </a:cubicBezTo>
                  <a:cubicBezTo>
                    <a:pt x="632819" y="9945"/>
                    <a:pt x="635000" y="15209"/>
                    <a:pt x="635000" y="20699"/>
                  </a:cubicBezTo>
                  <a:lnTo>
                    <a:pt x="635000" y="1056529"/>
                  </a:lnTo>
                  <a:cubicBezTo>
                    <a:pt x="635000" y="1062019"/>
                    <a:pt x="632819" y="1067284"/>
                    <a:pt x="628937" y="1071166"/>
                  </a:cubicBezTo>
                  <a:cubicBezTo>
                    <a:pt x="625055" y="1075048"/>
                    <a:pt x="619791" y="1077229"/>
                    <a:pt x="614301" y="1077229"/>
                  </a:cubicBezTo>
                  <a:lnTo>
                    <a:pt x="20699" y="1077229"/>
                  </a:lnTo>
                  <a:cubicBezTo>
                    <a:pt x="15209" y="1077229"/>
                    <a:pt x="9945" y="1075048"/>
                    <a:pt x="6063" y="1071166"/>
                  </a:cubicBezTo>
                  <a:cubicBezTo>
                    <a:pt x="2181" y="1067284"/>
                    <a:pt x="0" y="1062019"/>
                    <a:pt x="0" y="1056529"/>
                  </a:cubicBezTo>
                  <a:lnTo>
                    <a:pt x="0" y="20699"/>
                  </a:lnTo>
                  <a:cubicBezTo>
                    <a:pt x="0" y="15209"/>
                    <a:pt x="2181" y="9945"/>
                    <a:pt x="6063" y="6063"/>
                  </a:cubicBezTo>
                  <a:cubicBezTo>
                    <a:pt x="9945" y="2181"/>
                    <a:pt x="15209" y="0"/>
                    <a:pt x="20699" y="0"/>
                  </a:cubicBezTo>
                  <a:close/>
                </a:path>
              </a:pathLst>
            </a:custGeom>
            <a:solidFill>
              <a:srgbClr val="467D6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35000" cy="1124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223618" y="-3161506"/>
            <a:ext cx="6323012" cy="6323012"/>
          </a:xfrm>
          <a:custGeom>
            <a:avLst/>
            <a:gdLst/>
            <a:ahLst/>
            <a:cxnLst/>
            <a:rect r="r" b="b" t="t" l="l"/>
            <a:pathLst>
              <a:path h="6323012" w="6323012">
                <a:moveTo>
                  <a:pt x="0" y="0"/>
                </a:moveTo>
                <a:lnTo>
                  <a:pt x="6323013" y="0"/>
                </a:lnTo>
                <a:lnTo>
                  <a:pt x="6323013" y="6323012"/>
                </a:lnTo>
                <a:lnTo>
                  <a:pt x="0" y="6323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73013" y="5034815"/>
            <a:ext cx="1852762" cy="1852762"/>
          </a:xfrm>
          <a:custGeom>
            <a:avLst/>
            <a:gdLst/>
            <a:ahLst/>
            <a:cxnLst/>
            <a:rect r="r" b="b" t="t" l="l"/>
            <a:pathLst>
              <a:path h="1852762" w="1852762">
                <a:moveTo>
                  <a:pt x="0" y="0"/>
                </a:moveTo>
                <a:lnTo>
                  <a:pt x="1852763" y="0"/>
                </a:lnTo>
                <a:lnTo>
                  <a:pt x="1852763" y="1852762"/>
                </a:lnTo>
                <a:lnTo>
                  <a:pt x="0" y="18527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06184" y="5143500"/>
            <a:ext cx="1858051" cy="1635392"/>
          </a:xfrm>
          <a:custGeom>
            <a:avLst/>
            <a:gdLst/>
            <a:ahLst/>
            <a:cxnLst/>
            <a:rect r="r" b="b" t="t" l="l"/>
            <a:pathLst>
              <a:path h="1635392" w="1858051">
                <a:moveTo>
                  <a:pt x="0" y="0"/>
                </a:moveTo>
                <a:lnTo>
                  <a:pt x="1858051" y="0"/>
                </a:lnTo>
                <a:lnTo>
                  <a:pt x="1858051" y="1635392"/>
                </a:lnTo>
                <a:lnTo>
                  <a:pt x="0" y="16353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126210" y="5766024"/>
            <a:ext cx="487425" cy="487425"/>
          </a:xfrm>
          <a:custGeom>
            <a:avLst/>
            <a:gdLst/>
            <a:ahLst/>
            <a:cxnLst/>
            <a:rect r="r" b="b" t="t" l="l"/>
            <a:pathLst>
              <a:path h="487425" w="487425">
                <a:moveTo>
                  <a:pt x="0" y="0"/>
                </a:moveTo>
                <a:lnTo>
                  <a:pt x="487425" y="0"/>
                </a:lnTo>
                <a:lnTo>
                  <a:pt x="487425" y="487425"/>
                </a:lnTo>
                <a:lnTo>
                  <a:pt x="0" y="4874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706474" y="2040717"/>
            <a:ext cx="10049765" cy="103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727"/>
              </a:lnSpc>
            </a:pPr>
            <a:r>
              <a:rPr lang="en-US" sz="7805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Mode</a:t>
            </a:r>
            <a:r>
              <a:rPr lang="en-US" b="true" sz="7805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4476657"/>
            <a:ext cx="7612240" cy="259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0"/>
              </a:lnSpc>
            </a:pPr>
            <a:r>
              <a:rPr lang="en-US" sz="2600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XGBoost</a:t>
            </a: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 xml:space="preserve"> ML Model — How It Works</a:t>
            </a:r>
          </a:p>
          <a:p>
            <a:pPr algn="just">
              <a:lnSpc>
                <a:spcPts val="2990"/>
              </a:lnSpc>
            </a:pPr>
          </a:p>
          <a:p>
            <a:pPr algn="just" marL="561341" indent="-280670" lvl="1">
              <a:lnSpc>
                <a:spcPts val="2990"/>
              </a:lnSpc>
              <a:buFont typeface="Arial"/>
              <a:buChar char="•"/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Trained on Kaggle Disease-Symptom dataset (4920 samples, 42 diseases)</a:t>
            </a:r>
          </a:p>
          <a:p>
            <a:pPr algn="just" marL="561341" indent="-280670" lvl="1">
              <a:lnSpc>
                <a:spcPts val="2990"/>
              </a:lnSpc>
              <a:buFont typeface="Arial"/>
              <a:buChar char="•"/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Input: 80-feature binary vector (symptom present/absent)</a:t>
            </a:r>
          </a:p>
          <a:p>
            <a:pPr algn="just" marL="561341" indent="-280670" lvl="1">
              <a:lnSpc>
                <a:spcPts val="2990"/>
              </a:lnSpc>
              <a:buFont typeface="Arial"/>
              <a:buChar char="•"/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Output: risk label (LOW/MEDIUM/HIGH) + probability score 0–100</a:t>
            </a:r>
          </a:p>
          <a:p>
            <a:pPr algn="just" marL="561341" indent="-280670" lvl="1">
              <a:lnSpc>
                <a:spcPts val="2990"/>
              </a:lnSpc>
              <a:buFont typeface="Arial"/>
              <a:buChar char="•"/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BMI adjustment: obesity/underweight raises risk score automatically</a:t>
            </a:r>
          </a:p>
          <a:p>
            <a:pPr algn="r">
              <a:lnSpc>
                <a:spcPts val="299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67D63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15329"/>
            <a:ext cx="18833338" cy="3998509"/>
            <a:chOff x="0" y="0"/>
            <a:chExt cx="1383573" cy="293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3573" cy="293746"/>
            </a:xfrm>
            <a:custGeom>
              <a:avLst/>
              <a:gdLst/>
              <a:ahLst/>
              <a:cxnLst/>
              <a:rect r="r" b="b" t="t" l="l"/>
              <a:pathLst>
                <a:path h="293746" w="1383573">
                  <a:moveTo>
                    <a:pt x="0" y="0"/>
                  </a:moveTo>
                  <a:lnTo>
                    <a:pt x="1383573" y="0"/>
                  </a:lnTo>
                  <a:lnTo>
                    <a:pt x="1383573" y="293746"/>
                  </a:lnTo>
                  <a:lnTo>
                    <a:pt x="0" y="293746"/>
                  </a:lnTo>
                  <a:close/>
                </a:path>
              </a:pathLst>
            </a:custGeom>
            <a:solidFill>
              <a:srgbClr val="467D6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83573" cy="341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973716" y="9113520"/>
            <a:ext cx="6340568" cy="6340568"/>
          </a:xfrm>
          <a:custGeom>
            <a:avLst/>
            <a:gdLst/>
            <a:ahLst/>
            <a:cxnLst/>
            <a:rect r="r" b="b" t="t" l="l"/>
            <a:pathLst>
              <a:path h="6340568" w="6340568">
                <a:moveTo>
                  <a:pt x="0" y="0"/>
                </a:moveTo>
                <a:lnTo>
                  <a:pt x="6340568" y="0"/>
                </a:lnTo>
                <a:lnTo>
                  <a:pt x="6340568" y="6340568"/>
                </a:lnTo>
                <a:lnTo>
                  <a:pt x="0" y="6340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70381" y="3877855"/>
            <a:ext cx="4071938" cy="4114800"/>
          </a:xfrm>
          <a:custGeom>
            <a:avLst/>
            <a:gdLst/>
            <a:ahLst/>
            <a:cxnLst/>
            <a:rect r="r" b="b" t="t" l="l"/>
            <a:pathLst>
              <a:path h="4114800" w="4071938">
                <a:moveTo>
                  <a:pt x="0" y="0"/>
                </a:moveTo>
                <a:lnTo>
                  <a:pt x="4071938" y="0"/>
                </a:lnTo>
                <a:lnTo>
                  <a:pt x="40719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81331" y="4274413"/>
            <a:ext cx="7031936" cy="334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2600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Safety Override Engine — Why It Matters</a:t>
            </a:r>
          </a:p>
          <a:p>
            <a:pPr algn="l">
              <a:lnSpc>
                <a:spcPts val="2990"/>
              </a:lnSpc>
            </a:pPr>
          </a:p>
          <a:p>
            <a:pPr algn="l" marL="561341" indent="-280670" lvl="1">
              <a:lnSpc>
                <a:spcPts val="2990"/>
              </a:lnSpc>
              <a:buFont typeface="Arial"/>
              <a:buChar char="•"/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Chest pain → Emergency Alert</a:t>
            </a:r>
          </a:p>
          <a:p>
            <a:pPr algn="l" marL="561341" indent="-280670" lvl="1">
              <a:lnSpc>
                <a:spcPts val="2990"/>
              </a:lnSpc>
              <a:buFont typeface="Arial"/>
              <a:buChar char="•"/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Breathing issues → High Risk</a:t>
            </a:r>
          </a:p>
          <a:p>
            <a:pPr algn="l" marL="561341" indent="-280670" lvl="1">
              <a:lnSpc>
                <a:spcPts val="2990"/>
              </a:lnSpc>
              <a:buFont typeface="Arial"/>
              <a:buChar char="•"/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Recurring symptoms (2+ days same complaint) auto-escalate to Clinic Visit</a:t>
            </a:r>
          </a:p>
          <a:p>
            <a:pPr algn="l" marL="561341" indent="-280670" lvl="1">
              <a:lnSpc>
                <a:spcPts val="2990"/>
              </a:lnSpc>
              <a:buFont typeface="Arial"/>
              <a:buChar char="•"/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Claude AI (Anthropic) fallback enriches advice when API key is configured</a:t>
            </a:r>
          </a:p>
          <a:p>
            <a:pPr algn="l">
              <a:lnSpc>
                <a:spcPts val="299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81331" y="1181100"/>
            <a:ext cx="10594182" cy="103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7"/>
              </a:lnSpc>
            </a:pPr>
            <a:r>
              <a:rPr lang="en-US" b="true" sz="78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Safety Rule</a:t>
            </a:r>
            <a:r>
              <a:rPr lang="en-US" b="true" sz="78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 Layer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74054" y="1157290"/>
            <a:ext cx="4413946" cy="4413946"/>
          </a:xfrm>
          <a:custGeom>
            <a:avLst/>
            <a:gdLst/>
            <a:ahLst/>
            <a:cxnLst/>
            <a:rect r="r" b="b" t="t" l="l"/>
            <a:pathLst>
              <a:path h="4413946" w="4413946">
                <a:moveTo>
                  <a:pt x="0" y="0"/>
                </a:moveTo>
                <a:lnTo>
                  <a:pt x="4413946" y="0"/>
                </a:lnTo>
                <a:lnTo>
                  <a:pt x="4413946" y="4413946"/>
                </a:lnTo>
                <a:lnTo>
                  <a:pt x="0" y="4413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575042"/>
            <a:ext cx="18288000" cy="3464665"/>
            <a:chOff x="0" y="0"/>
            <a:chExt cx="1343510" cy="2545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3510" cy="254528"/>
            </a:xfrm>
            <a:custGeom>
              <a:avLst/>
              <a:gdLst/>
              <a:ahLst/>
              <a:cxnLst/>
              <a:rect r="r" b="b" t="t" l="l"/>
              <a:pathLst>
                <a:path h="254528" w="1343510">
                  <a:moveTo>
                    <a:pt x="0" y="0"/>
                  </a:moveTo>
                  <a:lnTo>
                    <a:pt x="1343510" y="0"/>
                  </a:lnTo>
                  <a:lnTo>
                    <a:pt x="1343510" y="254528"/>
                  </a:lnTo>
                  <a:lnTo>
                    <a:pt x="0" y="254528"/>
                  </a:lnTo>
                  <a:close/>
                </a:path>
              </a:pathLst>
            </a:custGeom>
            <a:solidFill>
              <a:srgbClr val="467D6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43510" cy="302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81331" y="1181100"/>
            <a:ext cx="12182477" cy="103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7"/>
              </a:lnSpc>
            </a:pPr>
            <a:r>
              <a:rPr lang="en-US" sz="780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 xml:space="preserve">Live Demo </a:t>
            </a:r>
            <a:r>
              <a:rPr lang="en-US" sz="780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— Triage Response</a:t>
            </a:r>
          </a:p>
        </p:txBody>
      </p:sp>
      <p:sp>
        <p:nvSpPr>
          <p:cNvPr name="TextBox content" id="20"/>
          <p:cNvSpPr txBox="true"/>
          <p:nvPr/>
        </p:nvSpPr>
        <p:spPr>
          <a:xfrm rot="0">
            <a:off x="1481331" y="3400000"/>
            <a:ext cx="11500000" cy="52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800" b="true">
                <a:solidFill>
                  <a:srgbClr val="467D63"/>
                </a:solidFill>
                <a:latin typeface="Montserrat Bold"/>
              </a:rPr>
              <a:t>What the user sees in the dashboard:</a:t>
            </a:r>
          </a:p>
          <a:p>
            <a:pPr algn="l" marL="600000" indent="-300000" lvl="1">
              <a:lnSpc>
                <a:spcPts val="3200"/>
              </a:lnSpc>
              <a:buFont typeface="Arial"/>
              <a:buChar char="•"/>
            </a:pPr>
            <a:r>
              <a:rPr lang="en-US" b="true" sz="2500">
                <a:solidFill>
                  <a:srgbClr val="222222"/>
                </a:solidFill>
                <a:latin typeface="Montserrat Bold"/>
              </a:rPr>
              <a:t>Risk Score (0–100%) with color-coded meter: green/orange/red</a:t>
            </a:r>
          </a:p>
          <a:p>
            <a:pPr algn="l" marL="600000" indent="-300000" lvl="1">
              <a:lnSpc>
                <a:spcPts val="3200"/>
              </a:lnSpc>
              <a:buFont typeface="Arial"/>
              <a:buChar char="•"/>
            </a:pPr>
            <a:r>
              <a:rPr lang="en-US" b="true" sz="2500">
                <a:solidFill>
                  <a:srgbClr val="222222"/>
                </a:solidFill>
                <a:latin typeface="Montserrat Bold"/>
              </a:rPr>
              <a:t>Triage Level badge: HOME CARE / CLINIC VISIT / EMERGENCY</a:t>
            </a:r>
          </a:p>
          <a:p>
            <a:pPr algn="l" marL="600000" indent="-300000" lvl="1">
              <a:lnSpc>
                <a:spcPts val="3200"/>
              </a:lnSpc>
              <a:buFont typeface="Arial"/>
              <a:buChar char="•"/>
            </a:pPr>
            <a:r>
              <a:rPr lang="en-US" b="true" sz="2500">
                <a:solidFill>
                  <a:srgbClr val="222222"/>
                </a:solidFill>
                <a:latin typeface="Montserrat Bold"/>
              </a:rPr>
              <a:t>Matched symptoms list + emoji icons for visual clarity</a:t>
            </a:r>
          </a:p>
          <a:p>
            <a:pPr algn="l" marL="600000" indent="-300000" lvl="1">
              <a:lnSpc>
                <a:spcPts val="3200"/>
              </a:lnSpc>
              <a:buFont typeface="Arial"/>
              <a:buChar char="•"/>
            </a:pPr>
            <a:r>
              <a:rPr lang="en-US" b="true" sz="2500">
                <a:solidFill>
                  <a:srgbClr val="222222"/>
                </a:solidFill>
                <a:latin typeface="Montserrat Bold"/>
              </a:rPr>
              <a:t>Actionable home remedy tips + red-flag warning signs</a:t>
            </a:r>
          </a:p>
          <a:p>
            <a:pPr algn="l" marL="600000" indent="-300000" lvl="1">
              <a:lnSpc>
                <a:spcPts val="3200"/>
              </a:lnSpc>
              <a:buFont typeface="Arial"/>
              <a:buChar char="•"/>
            </a:pPr>
            <a:r>
              <a:rPr lang="en-US" b="true" sz="2500">
                <a:solidFill>
                  <a:srgbClr val="222222"/>
                </a:solidFill>
                <a:latin typeface="Montserrat Bold"/>
              </a:rPr>
              <a:t>Quick-reply buttons for natural follow-up (e.g. “Started today” / “2–3 days”)</a:t>
            </a:r>
          </a:p>
          <a:p>
            <a:pPr algn="l" marL="600000" indent="-300000" lvl="1">
              <a:lnSpc>
                <a:spcPts val="3200"/>
              </a:lnSpc>
              <a:buFont typeface="Arial"/>
              <a:buChar char="•"/>
            </a:pPr>
            <a:r>
              <a:rPr lang="en-US" b="true" sz="2500">
                <a:solidFill>
                  <a:srgbClr val="222222"/>
                </a:solidFill>
                <a:latin typeface="Montserrat Bold"/>
              </a:rPr>
              <a:t>Full session history saved per user — tracks recurring complaints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9860" y="-784105"/>
            <a:ext cx="19514309" cy="4068720"/>
            <a:chOff x="0" y="0"/>
            <a:chExt cx="1696303" cy="353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6303" cy="353678"/>
            </a:xfrm>
            <a:custGeom>
              <a:avLst/>
              <a:gdLst/>
              <a:ahLst/>
              <a:cxnLst/>
              <a:rect r="r" b="b" t="t" l="l"/>
              <a:pathLst>
                <a:path h="353678" w="1696303">
                  <a:moveTo>
                    <a:pt x="7749" y="0"/>
                  </a:moveTo>
                  <a:lnTo>
                    <a:pt x="1688555" y="0"/>
                  </a:lnTo>
                  <a:cubicBezTo>
                    <a:pt x="1690610" y="0"/>
                    <a:pt x="1692581" y="816"/>
                    <a:pt x="1694034" y="2270"/>
                  </a:cubicBezTo>
                  <a:cubicBezTo>
                    <a:pt x="1695487" y="3723"/>
                    <a:pt x="1696303" y="5694"/>
                    <a:pt x="1696303" y="7749"/>
                  </a:cubicBezTo>
                  <a:lnTo>
                    <a:pt x="1696303" y="345929"/>
                  </a:lnTo>
                  <a:cubicBezTo>
                    <a:pt x="1696303" y="347985"/>
                    <a:pt x="1695487" y="349955"/>
                    <a:pt x="1694034" y="351409"/>
                  </a:cubicBezTo>
                  <a:cubicBezTo>
                    <a:pt x="1692581" y="352862"/>
                    <a:pt x="1690610" y="353678"/>
                    <a:pt x="1688555" y="353678"/>
                  </a:cubicBezTo>
                  <a:lnTo>
                    <a:pt x="7749" y="353678"/>
                  </a:lnTo>
                  <a:cubicBezTo>
                    <a:pt x="5694" y="353678"/>
                    <a:pt x="3723" y="352862"/>
                    <a:pt x="2270" y="351409"/>
                  </a:cubicBezTo>
                  <a:cubicBezTo>
                    <a:pt x="816" y="349955"/>
                    <a:pt x="0" y="347985"/>
                    <a:pt x="0" y="345929"/>
                  </a:cubicBezTo>
                  <a:lnTo>
                    <a:pt x="0" y="7749"/>
                  </a:lnTo>
                  <a:cubicBezTo>
                    <a:pt x="0" y="5694"/>
                    <a:pt x="816" y="3723"/>
                    <a:pt x="2270" y="2270"/>
                  </a:cubicBezTo>
                  <a:cubicBezTo>
                    <a:pt x="3723" y="816"/>
                    <a:pt x="5694" y="0"/>
                    <a:pt x="7749" y="0"/>
                  </a:cubicBezTo>
                  <a:close/>
                </a:path>
              </a:pathLst>
            </a:custGeom>
            <a:solidFill>
              <a:srgbClr val="467D6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96303" cy="401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8349" y="3847147"/>
            <a:ext cx="190105" cy="4884867"/>
            <a:chOff x="0" y="0"/>
            <a:chExt cx="13764" cy="3536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64" cy="353678"/>
            </a:xfrm>
            <a:custGeom>
              <a:avLst/>
              <a:gdLst/>
              <a:ahLst/>
              <a:cxnLst/>
              <a:rect r="r" b="b" t="t" l="l"/>
              <a:pathLst>
                <a:path h="353678" w="13764">
                  <a:moveTo>
                    <a:pt x="0" y="0"/>
                  </a:moveTo>
                  <a:lnTo>
                    <a:pt x="13764" y="0"/>
                  </a:lnTo>
                  <a:lnTo>
                    <a:pt x="13764" y="353678"/>
                  </a:lnTo>
                  <a:lnTo>
                    <a:pt x="0" y="353678"/>
                  </a:lnTo>
                  <a:close/>
                </a:path>
              </a:pathLst>
            </a:custGeom>
            <a:solidFill>
              <a:srgbClr val="467D6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764" cy="401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42917" y="3863470"/>
            <a:ext cx="6016383" cy="4868545"/>
            <a:chOff x="0" y="0"/>
            <a:chExt cx="932095" cy="7542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2095" cy="754265"/>
            </a:xfrm>
            <a:custGeom>
              <a:avLst/>
              <a:gdLst/>
              <a:ahLst/>
              <a:cxnLst/>
              <a:rect r="r" b="b" t="t" l="l"/>
              <a:pathLst>
                <a:path h="754265" w="932095">
                  <a:moveTo>
                    <a:pt x="41178" y="0"/>
                  </a:moveTo>
                  <a:lnTo>
                    <a:pt x="890917" y="0"/>
                  </a:lnTo>
                  <a:cubicBezTo>
                    <a:pt x="901838" y="0"/>
                    <a:pt x="912312" y="4338"/>
                    <a:pt x="920034" y="12061"/>
                  </a:cubicBezTo>
                  <a:cubicBezTo>
                    <a:pt x="927757" y="19783"/>
                    <a:pt x="932095" y="30257"/>
                    <a:pt x="932095" y="41178"/>
                  </a:cubicBezTo>
                  <a:lnTo>
                    <a:pt x="932095" y="713087"/>
                  </a:lnTo>
                  <a:cubicBezTo>
                    <a:pt x="932095" y="724008"/>
                    <a:pt x="927757" y="734482"/>
                    <a:pt x="920034" y="742204"/>
                  </a:cubicBezTo>
                  <a:cubicBezTo>
                    <a:pt x="912312" y="749927"/>
                    <a:pt x="901838" y="754265"/>
                    <a:pt x="890917" y="754265"/>
                  </a:cubicBezTo>
                  <a:lnTo>
                    <a:pt x="41178" y="754265"/>
                  </a:lnTo>
                  <a:cubicBezTo>
                    <a:pt x="30257" y="754265"/>
                    <a:pt x="19783" y="749927"/>
                    <a:pt x="12061" y="742204"/>
                  </a:cubicBezTo>
                  <a:cubicBezTo>
                    <a:pt x="4338" y="734482"/>
                    <a:pt x="0" y="724008"/>
                    <a:pt x="0" y="713087"/>
                  </a:cubicBezTo>
                  <a:lnTo>
                    <a:pt x="0" y="41178"/>
                  </a:lnTo>
                  <a:cubicBezTo>
                    <a:pt x="0" y="30257"/>
                    <a:pt x="4338" y="19783"/>
                    <a:pt x="12061" y="12061"/>
                  </a:cubicBezTo>
                  <a:cubicBezTo>
                    <a:pt x="19783" y="4338"/>
                    <a:pt x="30257" y="0"/>
                    <a:pt x="41178" y="0"/>
                  </a:cubicBezTo>
                  <a:close/>
                </a:path>
              </a:pathLst>
            </a:custGeom>
            <a:blipFill>
              <a:blip r:embed="rId2"/>
              <a:stretch>
                <a:fillRect l="-5772" t="0" r="-5772" b="0"/>
              </a:stretch>
            </a:blipFill>
            <a:ln w="123825" cap="rnd">
              <a:solidFill>
                <a:srgbClr val="467D63"/>
              </a:solidFill>
              <a:prstDash val="solid"/>
              <a:round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481331" y="1573823"/>
            <a:ext cx="13248832" cy="103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7"/>
              </a:lnSpc>
            </a:pPr>
            <a:r>
              <a:rPr lang="en-US" sz="780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sz="780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</a:t>
            </a:r>
            <a:r>
              <a:rPr lang="en-US" sz="780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 Stack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94369" y="3866197"/>
            <a:ext cx="8748548" cy="445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2600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 Stack — Full Breakdown</a:t>
            </a:r>
          </a:p>
          <a:p>
            <a:pPr algn="l">
              <a:lnSpc>
                <a:spcPts val="2990"/>
              </a:lnSpc>
            </a:pPr>
          </a:p>
          <a:p>
            <a:pPr algn="l">
              <a:lnSpc>
                <a:spcPts val="2990"/>
              </a:lnSpc>
            </a:pPr>
            <a:r>
              <a:rPr lang="en-US" sz="2600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</a:t>
            </a:r>
            <a:r>
              <a:rPr lang="en-US" sz="2600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</a:r>
          </a:p>
          <a:p>
            <a:pPr algn="l" marL="561341" indent="-280670" lvl="1">
              <a:lnSpc>
                <a:spcPts val="2990"/>
              </a:lnSpc>
              <a:buFont typeface="Arial"/>
              <a:buChar char="•"/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HTML5 + CSS3 + Vanilla JS — single-file SPA, no frameworks</a:t>
            </a:r>
          </a:p>
          <a:p>
            <a:pPr algn="l" marL="561341" indent="-280670" lvl="1">
              <a:lnSpc>
                <a:spcPts val="2990"/>
              </a:lnSpc>
              <a:buFont typeface="Arial"/>
              <a:buChar char="•"/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Sora + Lora Google Fonts, CSS variables for theming</a:t>
            </a:r>
          </a:p>
          <a:p>
            <a:pPr algn="l" marL="561341" indent="-280670" lvl="1">
              <a:lnSpc>
                <a:spcPts val="2990"/>
              </a:lnSpc>
              <a:buFont typeface="Arial"/>
              <a:buChar char="•"/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Fetch API, multi-turn chat state, BMI calculator, history viewer</a:t>
            </a:r>
          </a:p>
          <a:p>
            <a:pPr algn="l">
              <a:lnSpc>
                <a:spcPts val="2990"/>
              </a:lnSpc>
            </a:pPr>
            <a:r>
              <a:rPr lang="en-US" sz="2600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 &amp; AI Layer</a:t>
            </a:r>
          </a:p>
          <a:p>
            <a:pPr algn="l" marL="561341" indent="-280670" lvl="1">
              <a:lnSpc>
                <a:spcPts val="2990"/>
              </a:lnSpc>
              <a:buFont typeface="Arial"/>
              <a:buChar char="•"/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Flask + Flask-CORS — REST API with /predict, /login, /register, /history</a:t>
            </a:r>
          </a:p>
          <a:p>
            <a:pPr algn="l" marL="561341" indent="-280670" lvl="1">
              <a:lnSpc>
                <a:spcPts val="2990"/>
              </a:lnSpc>
              <a:buFont typeface="Arial"/>
              <a:buChar char="•"/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XGBoost classifier + scikit-learn + numpy + SQLite3 database</a:t>
            </a:r>
          </a:p>
          <a:p>
            <a:pPr algn="l">
              <a:lnSpc>
                <a:spcPts val="2990"/>
              </a:lnSpc>
            </a:pPr>
            <a:r>
              <a:rPr lang="en-US" sz="2600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&amp; AI</a:t>
            </a:r>
          </a:p>
          <a:p>
            <a:pPr algn="l" marL="561341" indent="-280670" lvl="1">
              <a:lnSpc>
                <a:spcPts val="2990"/>
              </a:lnSpc>
              <a:buFont typeface="Arial"/>
              <a:buChar char="•"/>
            </a:pPr>
            <a:r>
              <a:rPr lang="en-US" b="true" sz="26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Kaggle Disease-Symptom dataset + Anthropic Claude API (optional fallback)</a:t>
            </a:r>
          </a:p>
          <a:p>
            <a:pPr algn="l">
              <a:lnSpc>
                <a:spcPts val="299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876323" y="-2124133"/>
            <a:ext cx="5274212" cy="5274212"/>
          </a:xfrm>
          <a:custGeom>
            <a:avLst/>
            <a:gdLst/>
            <a:ahLst/>
            <a:cxnLst/>
            <a:rect r="r" b="b" t="t" l="l"/>
            <a:pathLst>
              <a:path h="5274212" w="5274212">
                <a:moveTo>
                  <a:pt x="0" y="0"/>
                </a:moveTo>
                <a:lnTo>
                  <a:pt x="5274212" y="0"/>
                </a:lnTo>
                <a:lnTo>
                  <a:pt x="5274212" y="5274212"/>
                </a:lnTo>
                <a:lnTo>
                  <a:pt x="0" y="5274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32110" y="9122540"/>
            <a:ext cx="5274212" cy="5274212"/>
          </a:xfrm>
          <a:custGeom>
            <a:avLst/>
            <a:gdLst/>
            <a:ahLst/>
            <a:cxnLst/>
            <a:rect r="r" b="b" t="t" l="l"/>
            <a:pathLst>
              <a:path h="5274212" w="5274212">
                <a:moveTo>
                  <a:pt x="0" y="0"/>
                </a:moveTo>
                <a:lnTo>
                  <a:pt x="5274212" y="0"/>
                </a:lnTo>
                <a:lnTo>
                  <a:pt x="5274212" y="5274212"/>
                </a:lnTo>
                <a:lnTo>
                  <a:pt x="0" y="52742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70029" y="-1022107"/>
            <a:ext cx="6222898" cy="7487224"/>
            <a:chOff x="0" y="0"/>
            <a:chExt cx="540932" cy="6508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0932" cy="650835"/>
            </a:xfrm>
            <a:custGeom>
              <a:avLst/>
              <a:gdLst/>
              <a:ahLst/>
              <a:cxnLst/>
              <a:rect r="r" b="b" t="t" l="l"/>
              <a:pathLst>
                <a:path h="650835" w="540932">
                  <a:moveTo>
                    <a:pt x="24299" y="0"/>
                  </a:moveTo>
                  <a:lnTo>
                    <a:pt x="516634" y="0"/>
                  </a:lnTo>
                  <a:cubicBezTo>
                    <a:pt x="523078" y="0"/>
                    <a:pt x="529259" y="2560"/>
                    <a:pt x="533815" y="7117"/>
                  </a:cubicBezTo>
                  <a:cubicBezTo>
                    <a:pt x="538372" y="11674"/>
                    <a:pt x="540932" y="17854"/>
                    <a:pt x="540932" y="24299"/>
                  </a:cubicBezTo>
                  <a:lnTo>
                    <a:pt x="540932" y="626537"/>
                  </a:lnTo>
                  <a:cubicBezTo>
                    <a:pt x="540932" y="639956"/>
                    <a:pt x="530053" y="650835"/>
                    <a:pt x="516634" y="650835"/>
                  </a:cubicBezTo>
                  <a:lnTo>
                    <a:pt x="24299" y="650835"/>
                  </a:lnTo>
                  <a:cubicBezTo>
                    <a:pt x="10879" y="650835"/>
                    <a:pt x="0" y="639956"/>
                    <a:pt x="0" y="626537"/>
                  </a:cubicBezTo>
                  <a:lnTo>
                    <a:pt x="0" y="24299"/>
                  </a:lnTo>
                  <a:cubicBezTo>
                    <a:pt x="0" y="17854"/>
                    <a:pt x="2560" y="11674"/>
                    <a:pt x="7117" y="7117"/>
                  </a:cubicBezTo>
                  <a:cubicBezTo>
                    <a:pt x="11674" y="2560"/>
                    <a:pt x="17854" y="0"/>
                    <a:pt x="24299" y="0"/>
                  </a:cubicBezTo>
                  <a:close/>
                </a:path>
              </a:pathLst>
            </a:custGeom>
            <a:solidFill>
              <a:srgbClr val="467D6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40932" cy="698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4587" y="6833490"/>
            <a:ext cx="5452869" cy="5452869"/>
          </a:xfrm>
          <a:custGeom>
            <a:avLst/>
            <a:gdLst/>
            <a:ahLst/>
            <a:cxnLst/>
            <a:rect r="r" b="b" t="t" l="l"/>
            <a:pathLst>
              <a:path h="5452869" w="5452869">
                <a:moveTo>
                  <a:pt x="0" y="0"/>
                </a:moveTo>
                <a:lnTo>
                  <a:pt x="5452869" y="0"/>
                </a:lnTo>
                <a:lnTo>
                  <a:pt x="5452869" y="5452870"/>
                </a:lnTo>
                <a:lnTo>
                  <a:pt x="0" y="5452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7412954" y="4226147"/>
            <a:ext cx="895407" cy="1116290"/>
          </a:xfrm>
          <a:custGeom>
            <a:avLst/>
            <a:gdLst/>
            <a:ahLst/>
            <a:cxnLst/>
            <a:rect r="r" b="b" t="t" l="l"/>
            <a:pathLst>
              <a:path h="1116290" w="895407">
                <a:moveTo>
                  <a:pt x="895407" y="0"/>
                </a:moveTo>
                <a:lnTo>
                  <a:pt x="0" y="0"/>
                </a:lnTo>
                <a:lnTo>
                  <a:pt x="0" y="1116290"/>
                </a:lnTo>
                <a:lnTo>
                  <a:pt x="895407" y="1116290"/>
                </a:lnTo>
                <a:lnTo>
                  <a:pt x="89540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5094" y="945311"/>
            <a:ext cx="4089327" cy="4397126"/>
          </a:xfrm>
          <a:custGeom>
            <a:avLst/>
            <a:gdLst/>
            <a:ahLst/>
            <a:cxnLst/>
            <a:rect r="r" b="b" t="t" l="l"/>
            <a:pathLst>
              <a:path h="4397126" w="4089327">
                <a:moveTo>
                  <a:pt x="0" y="0"/>
                </a:moveTo>
                <a:lnTo>
                  <a:pt x="4089327" y="0"/>
                </a:lnTo>
                <a:lnTo>
                  <a:pt x="4089327" y="4397126"/>
                </a:lnTo>
                <a:lnTo>
                  <a:pt x="0" y="4397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333250" y="1652262"/>
            <a:ext cx="10049765" cy="103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727"/>
              </a:lnSpc>
            </a:pPr>
            <a:r>
              <a:rPr lang="en-US" sz="7805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</a:t>
            </a:r>
            <a:r>
              <a:rPr lang="en-US" b="true" sz="7805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al-World Impact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42062" y="4435217"/>
            <a:ext cx="6024910" cy="334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Real-World</a:t>
            </a:r>
            <a:r>
              <a:rPr lang="en-US" sz="2000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 xml:space="preserve"> Impact We Deliver</a:t>
            </a:r>
          </a:p>
          <a:p>
            <a:pPr algn="l">
              <a:lnSpc>
                <a:spcPts val="2400"/>
              </a:lnSpc>
            </a:pPr>
          </a:p>
          <a:p>
            <a:pPr algn="l" marL="561341" indent="-280670" lvl="1">
              <a:lnSpc>
                <a:spcPts val="2400"/>
              </a:lnSpc>
              <a:buFont typeface="Arial"/>
              <a:buChar char="•"/>
            </a:pPr>
            <a:r>
              <a:rPr lang="en-US" b="true" sz="20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Cuts unnecessary ER visits by triaging 60–70% of cases as Home Care</a:t>
            </a:r>
          </a:p>
          <a:p>
            <a:pPr algn="l" marL="561341" indent="-280670" lvl="1">
              <a:lnSpc>
                <a:spcPts val="2400"/>
              </a:lnSpc>
              <a:buFont typeface="Arial"/>
              <a:buChar char="•"/>
            </a:pPr>
            <a:r>
              <a:rPr lang="en-US" b="true" sz="20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Detects life-threatening symptoms (chest pain, breathlessness) within seconds</a:t>
            </a:r>
          </a:p>
          <a:p>
            <a:pPr algn="l" marL="561341" indent="-280670" lvl="1">
              <a:lnSpc>
                <a:spcPts val="2400"/>
              </a:lnSpc>
              <a:buFont typeface="Arial"/>
              <a:buChar char="•"/>
            </a:pPr>
            <a:r>
              <a:rPr lang="en-US" b="true" sz="20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Works offline-first; accessible from any smartphone browser without an app</a:t>
            </a:r>
          </a:p>
          <a:p>
            <a:pPr algn="l" marL="561341" indent="-280670" lvl="1">
              <a:lnSpc>
                <a:spcPts val="2400"/>
              </a:lnSpc>
              <a:buFont typeface="Arial"/>
              <a:buChar char="•"/>
            </a:pPr>
            <a:r>
              <a:rPr lang="en-US" b="true" sz="2000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Gives personalized, Indian-context remedies (ORS, Paracetamol, Ajwain, Tulsi)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67D63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04472" y="80551"/>
            <a:ext cx="5195431" cy="5195431"/>
          </a:xfrm>
          <a:custGeom>
            <a:avLst/>
            <a:gdLst/>
            <a:ahLst/>
            <a:cxnLst/>
            <a:rect r="r" b="b" t="t" l="l"/>
            <a:pathLst>
              <a:path h="5195431" w="5195431">
                <a:moveTo>
                  <a:pt x="0" y="0"/>
                </a:moveTo>
                <a:lnTo>
                  <a:pt x="5195432" y="0"/>
                </a:lnTo>
                <a:lnTo>
                  <a:pt x="5195432" y="5195432"/>
                </a:lnTo>
                <a:lnTo>
                  <a:pt x="0" y="5195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1331" y="4191018"/>
            <a:ext cx="7662669" cy="4212329"/>
            <a:chOff x="0" y="0"/>
            <a:chExt cx="666086" cy="3661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6086" cy="366162"/>
            </a:xfrm>
            <a:custGeom>
              <a:avLst/>
              <a:gdLst/>
              <a:ahLst/>
              <a:cxnLst/>
              <a:rect r="r" b="b" t="t" l="l"/>
              <a:pathLst>
                <a:path h="366162" w="666086">
                  <a:moveTo>
                    <a:pt x="0" y="0"/>
                  </a:moveTo>
                  <a:lnTo>
                    <a:pt x="666086" y="0"/>
                  </a:lnTo>
                  <a:lnTo>
                    <a:pt x="666086" y="366162"/>
                  </a:lnTo>
                  <a:lnTo>
                    <a:pt x="0" y="366162"/>
                  </a:lnTo>
                  <a:close/>
                </a:path>
              </a:pathLst>
            </a:custGeom>
            <a:solidFill>
              <a:srgbClr val="467D6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6086" cy="413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314992" y="5699996"/>
            <a:ext cx="5773316" cy="4114800"/>
          </a:xfrm>
          <a:custGeom>
            <a:avLst/>
            <a:gdLst/>
            <a:ahLst/>
            <a:cxnLst/>
            <a:rect r="r" b="b" t="t" l="l"/>
            <a:pathLst>
              <a:path h="4114800" w="5773316">
                <a:moveTo>
                  <a:pt x="0" y="0"/>
                </a:moveTo>
                <a:lnTo>
                  <a:pt x="5773316" y="0"/>
                </a:lnTo>
                <a:lnTo>
                  <a:pt x="57733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81331" y="1751678"/>
            <a:ext cx="10049765" cy="2005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7"/>
              </a:lnSpc>
            </a:pPr>
            <a:r>
              <a:rPr lang="en-US" sz="7805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</a:t>
            </a:r>
            <a:r>
              <a:rPr lang="en-US" sz="7805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 Improvements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4101" y="5007815"/>
            <a:ext cx="6597130" cy="259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Roadmap — What Comes Next</a:t>
            </a:r>
          </a:p>
          <a:p>
            <a:pPr algn="l">
              <a:lnSpc>
                <a:spcPts val="2400"/>
              </a:lnSpc>
            </a:pPr>
          </a:p>
          <a:p>
            <a:pPr algn="l" marL="561341" indent="-280670" lvl="1">
              <a:lnSpc>
                <a:spcPts val="24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Fine-tuned medical NLP model (BioBERT) for intent + severity extraction</a:t>
            </a:r>
          </a:p>
          <a:p>
            <a:pPr algn="l" marL="561341" indent="-280670" lvl="1">
              <a:lnSpc>
                <a:spcPts val="24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Flutter mobile app with offline-mode and push notification alerts</a:t>
            </a:r>
          </a:p>
          <a:p>
            <a:pPr algn="l" marL="561341" indent="-280670" lvl="1">
              <a:lnSpc>
                <a:spcPts val="24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Wearable integration (heart rate, SpO2) for real-time vital-based triage</a:t>
            </a:r>
          </a:p>
          <a:p>
            <a:pPr algn="l" marL="561341" indent="-280670" lvl="1">
              <a:lnSpc>
                <a:spcPts val="24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Multilingual support: Hindi, Tamil, Telugu, Kannada for rural reach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46783" y="1721831"/>
            <a:ext cx="7133123" cy="5019125"/>
          </a:xfrm>
          <a:custGeom>
            <a:avLst/>
            <a:gdLst/>
            <a:ahLst/>
            <a:cxnLst/>
            <a:rect r="r" b="b" t="t" l="l"/>
            <a:pathLst>
              <a:path h="5019125" w="7133123">
                <a:moveTo>
                  <a:pt x="0" y="0"/>
                </a:moveTo>
                <a:lnTo>
                  <a:pt x="7133123" y="0"/>
                </a:lnTo>
                <a:lnTo>
                  <a:pt x="7133123" y="5019125"/>
                </a:lnTo>
                <a:lnTo>
                  <a:pt x="0" y="5019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08261" y="7084020"/>
            <a:ext cx="4263665" cy="624318"/>
            <a:chOff x="0" y="0"/>
            <a:chExt cx="12954000" cy="18968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54000" cy="1896823"/>
            </a:xfrm>
            <a:custGeom>
              <a:avLst/>
              <a:gdLst/>
              <a:ahLst/>
              <a:cxnLst/>
              <a:rect r="r" b="b" t="t" l="l"/>
              <a:pathLst>
                <a:path h="1896823" w="12954000">
                  <a:moveTo>
                    <a:pt x="1790097" y="929932"/>
                  </a:moveTo>
                  <a:cubicBezTo>
                    <a:pt x="1219186" y="1074677"/>
                    <a:pt x="1074677" y="1219186"/>
                    <a:pt x="929932" y="1790099"/>
                  </a:cubicBezTo>
                  <a:cubicBezTo>
                    <a:pt x="923322" y="1816166"/>
                    <a:pt x="886325" y="1816166"/>
                    <a:pt x="879718" y="1790099"/>
                  </a:cubicBezTo>
                  <a:cubicBezTo>
                    <a:pt x="734974" y="1219186"/>
                    <a:pt x="590462" y="1074677"/>
                    <a:pt x="19552" y="929932"/>
                  </a:cubicBezTo>
                  <a:cubicBezTo>
                    <a:pt x="-6518" y="923322"/>
                    <a:pt x="-6518" y="886325"/>
                    <a:pt x="19552" y="879718"/>
                  </a:cubicBezTo>
                  <a:cubicBezTo>
                    <a:pt x="590462" y="734973"/>
                    <a:pt x="734974" y="590461"/>
                    <a:pt x="879719" y="19550"/>
                  </a:cubicBezTo>
                  <a:cubicBezTo>
                    <a:pt x="886327" y="-6516"/>
                    <a:pt x="923322" y="-6516"/>
                    <a:pt x="929933" y="19550"/>
                  </a:cubicBezTo>
                  <a:cubicBezTo>
                    <a:pt x="1074678" y="590461"/>
                    <a:pt x="1219187" y="734973"/>
                    <a:pt x="1790098" y="879718"/>
                  </a:cubicBezTo>
                  <a:cubicBezTo>
                    <a:pt x="1816167" y="886325"/>
                    <a:pt x="1816167" y="923320"/>
                    <a:pt x="1790098" y="929932"/>
                  </a:cubicBezTo>
                  <a:close/>
                  <a:moveTo>
                    <a:pt x="2230867" y="917275"/>
                  </a:moveTo>
                  <a:lnTo>
                    <a:pt x="2576728" y="1263137"/>
                  </a:lnTo>
                  <a:lnTo>
                    <a:pt x="2922586" y="917275"/>
                  </a:lnTo>
                  <a:lnTo>
                    <a:pt x="2576728" y="571417"/>
                  </a:lnTo>
                  <a:lnTo>
                    <a:pt x="2230867" y="917275"/>
                  </a:lnTo>
                  <a:close/>
                  <a:moveTo>
                    <a:pt x="5133903" y="954439"/>
                  </a:moveTo>
                  <a:cubicBezTo>
                    <a:pt x="4562992" y="809691"/>
                    <a:pt x="4418482" y="665183"/>
                    <a:pt x="4273735" y="94272"/>
                  </a:cubicBezTo>
                  <a:cubicBezTo>
                    <a:pt x="4267128" y="68205"/>
                    <a:pt x="4230132" y="68205"/>
                    <a:pt x="4223525" y="94272"/>
                  </a:cubicBezTo>
                  <a:cubicBezTo>
                    <a:pt x="4078776" y="665183"/>
                    <a:pt x="3934268" y="809692"/>
                    <a:pt x="3363357" y="954439"/>
                  </a:cubicBezTo>
                  <a:cubicBezTo>
                    <a:pt x="3337291" y="961050"/>
                    <a:pt x="3337291" y="998042"/>
                    <a:pt x="3363357" y="1004650"/>
                  </a:cubicBezTo>
                  <a:cubicBezTo>
                    <a:pt x="3934268" y="1149398"/>
                    <a:pt x="4078778" y="1293910"/>
                    <a:pt x="4223525" y="1864821"/>
                  </a:cubicBezTo>
                  <a:cubicBezTo>
                    <a:pt x="4230132" y="1890888"/>
                    <a:pt x="4267128" y="1890888"/>
                    <a:pt x="4273735" y="1864821"/>
                  </a:cubicBezTo>
                  <a:cubicBezTo>
                    <a:pt x="4418484" y="1293910"/>
                    <a:pt x="4562992" y="1149398"/>
                    <a:pt x="5133903" y="1004650"/>
                  </a:cubicBezTo>
                  <a:cubicBezTo>
                    <a:pt x="5159972" y="998042"/>
                    <a:pt x="5159972" y="961050"/>
                    <a:pt x="5133903" y="954439"/>
                  </a:cubicBezTo>
                  <a:close/>
                  <a:moveTo>
                    <a:pt x="5574673" y="942186"/>
                  </a:moveTo>
                  <a:lnTo>
                    <a:pt x="5920530" y="1288044"/>
                  </a:lnTo>
                  <a:lnTo>
                    <a:pt x="6266392" y="942186"/>
                  </a:lnTo>
                  <a:lnTo>
                    <a:pt x="5920530" y="596325"/>
                  </a:lnTo>
                  <a:lnTo>
                    <a:pt x="5574673" y="942186"/>
                  </a:lnTo>
                  <a:close/>
                  <a:moveTo>
                    <a:pt x="8477707" y="941984"/>
                  </a:moveTo>
                  <a:cubicBezTo>
                    <a:pt x="7906796" y="797240"/>
                    <a:pt x="7762284" y="652728"/>
                    <a:pt x="7617540" y="81817"/>
                  </a:cubicBezTo>
                  <a:cubicBezTo>
                    <a:pt x="7610932" y="55750"/>
                    <a:pt x="7573937" y="55750"/>
                    <a:pt x="7567326" y="81817"/>
                  </a:cubicBezTo>
                  <a:cubicBezTo>
                    <a:pt x="7422581" y="652728"/>
                    <a:pt x="7278072" y="797240"/>
                    <a:pt x="6707161" y="941984"/>
                  </a:cubicBezTo>
                  <a:cubicBezTo>
                    <a:pt x="6681091" y="948595"/>
                    <a:pt x="6681091" y="985587"/>
                    <a:pt x="6707161" y="992199"/>
                  </a:cubicBezTo>
                  <a:cubicBezTo>
                    <a:pt x="7278072" y="1136943"/>
                    <a:pt x="7422581" y="1281455"/>
                    <a:pt x="7567326" y="1852366"/>
                  </a:cubicBezTo>
                  <a:cubicBezTo>
                    <a:pt x="7573936" y="1878433"/>
                    <a:pt x="7610932" y="1878433"/>
                    <a:pt x="7617540" y="1852366"/>
                  </a:cubicBezTo>
                  <a:cubicBezTo>
                    <a:pt x="7762284" y="1281455"/>
                    <a:pt x="7906796" y="1136943"/>
                    <a:pt x="8477707" y="992199"/>
                  </a:cubicBezTo>
                  <a:cubicBezTo>
                    <a:pt x="8503776" y="985589"/>
                    <a:pt x="8503776" y="948596"/>
                    <a:pt x="8477707" y="941984"/>
                  </a:cubicBezTo>
                  <a:close/>
                  <a:moveTo>
                    <a:pt x="8918477" y="929730"/>
                  </a:moveTo>
                  <a:lnTo>
                    <a:pt x="9264339" y="1275592"/>
                  </a:lnTo>
                  <a:lnTo>
                    <a:pt x="9610197" y="929730"/>
                  </a:lnTo>
                  <a:lnTo>
                    <a:pt x="9264339" y="583872"/>
                  </a:lnTo>
                  <a:lnTo>
                    <a:pt x="8918477" y="929730"/>
                  </a:lnTo>
                  <a:close/>
                  <a:moveTo>
                    <a:pt x="11821509" y="966892"/>
                  </a:moveTo>
                  <a:cubicBezTo>
                    <a:pt x="11250605" y="822147"/>
                    <a:pt x="11106093" y="677635"/>
                    <a:pt x="10961345" y="106724"/>
                  </a:cubicBezTo>
                  <a:cubicBezTo>
                    <a:pt x="10954734" y="80658"/>
                    <a:pt x="10917738" y="80658"/>
                    <a:pt x="10911134" y="106724"/>
                  </a:cubicBezTo>
                  <a:cubicBezTo>
                    <a:pt x="10766385" y="677635"/>
                    <a:pt x="10621874" y="822147"/>
                    <a:pt x="10050963" y="966892"/>
                  </a:cubicBezTo>
                  <a:cubicBezTo>
                    <a:pt x="10024894" y="973502"/>
                    <a:pt x="10024894" y="1010495"/>
                    <a:pt x="10050963" y="1017106"/>
                  </a:cubicBezTo>
                  <a:cubicBezTo>
                    <a:pt x="10621874" y="1161851"/>
                    <a:pt x="10766385" y="1306363"/>
                    <a:pt x="10911134" y="1877273"/>
                  </a:cubicBezTo>
                  <a:cubicBezTo>
                    <a:pt x="10917738" y="1903340"/>
                    <a:pt x="10954734" y="1903340"/>
                    <a:pt x="10961345" y="1877273"/>
                  </a:cubicBezTo>
                  <a:cubicBezTo>
                    <a:pt x="11106093" y="1306363"/>
                    <a:pt x="11250605" y="1161851"/>
                    <a:pt x="11821509" y="1017106"/>
                  </a:cubicBezTo>
                  <a:cubicBezTo>
                    <a:pt x="11847578" y="1010496"/>
                    <a:pt x="11847578" y="973503"/>
                    <a:pt x="11821509" y="966892"/>
                  </a:cubicBezTo>
                  <a:close/>
                  <a:moveTo>
                    <a:pt x="12608141" y="608780"/>
                  </a:moveTo>
                  <a:lnTo>
                    <a:pt x="12262283" y="954637"/>
                  </a:lnTo>
                  <a:lnTo>
                    <a:pt x="12608141" y="1300495"/>
                  </a:lnTo>
                  <a:lnTo>
                    <a:pt x="12953999" y="954637"/>
                  </a:lnTo>
                  <a:lnTo>
                    <a:pt x="12608141" y="608780"/>
                  </a:lnTo>
                  <a:close/>
                </a:path>
              </a:pathLst>
            </a:custGeom>
            <a:solidFill>
              <a:srgbClr val="467D6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908094" y="1739836"/>
            <a:ext cx="3645638" cy="2956281"/>
          </a:xfrm>
          <a:custGeom>
            <a:avLst/>
            <a:gdLst/>
            <a:ahLst/>
            <a:cxnLst/>
            <a:rect r="r" b="b" t="t" l="l"/>
            <a:pathLst>
              <a:path h="2956281" w="3645638">
                <a:moveTo>
                  <a:pt x="0" y="0"/>
                </a:moveTo>
                <a:lnTo>
                  <a:pt x="3645638" y="0"/>
                </a:lnTo>
                <a:lnTo>
                  <a:pt x="3645638" y="2956281"/>
                </a:lnTo>
                <a:lnTo>
                  <a:pt x="0" y="2956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08094" y="5153317"/>
            <a:ext cx="11304727" cy="1722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1"/>
              </a:lnSpc>
            </a:pPr>
            <a:r>
              <a:rPr lang="en-US" sz="13122" b="true">
                <a:solidFill>
                  <a:srgbClr val="467D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08094" y="7154737"/>
            <a:ext cx="9948441" cy="56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4319">
                <a:solidFill>
                  <a:srgbClr val="467D63"/>
                </a:solidFill>
                <a:latin typeface="Montserrat"/>
                <a:ea typeface="Montserrat"/>
                <a:cs typeface="Montserrat"/>
                <a:sym typeface="Montserrat"/>
              </a:rPr>
              <a:t>Team Nostalgia | MediGuide AI | AI Fusion Challenge 2025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67D63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DAHJqRoiTxY</dc:identifier>
  <dcterms:modified xsi:type="dcterms:W3CDTF">2011-08-01T06:04:30Z</dcterms:modified>
  <cp:revision>1</cp:revision>
  <dc:title>AI Healthcare Triage Assistant</dc:title>
</cp:coreProperties>
</file>